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86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756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Our test data: one dusty week cost about 22% of output and a 10-hour inverter fault cut output by about 97%, and nothing raised an alarm. Loss is measured against the Jan 1 to Feb 9 baseline efficiency (our estimate). Public example: a 2015 Pecan Street study found small solar faults went unnoticed for days or weeks (pecanstreet.org/tags/app). We have not interviewed owners, so we do not claim a quote.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output history tells an owner what already happened. Our app tells them what to expect tomorrow, what is wrong, and what to do, on one screen. Before presenting, if the team has compared specific inverter apps, add what they show and don't show here. We have not verified claims about named apps, so do not make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app: dormathon-modelprototype.streamlit.app. Press Normal day, then Dusty panels, then Inverter fault. Read the actual wording off the screen. Do not read any number aloud unless it matches results/metrics.md or docs/assumptions.md, because the app's built-in fallback numbers are placeholders and it may show dollars while our assumptions use RM. Open the app once before the pitch so it is awake (free Streamlit apps sleep). Keep a screen recording as a backup.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injected faults were caught with the right type, with 1 false alarm on clean data, and the fault was still caught with noise added and 5% of rows dropped. Forecast error was 54.4% lower than "same hour yesterday" on normal days and 46.9% lower on the fault scenario, but worse on the dusty scenario. Say so if asked. This is test data, not proof on real homes: the next step is real data. Confirm results/metrics.md is final and whether the data is simulated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"assumed" out loud for every RM figure. Loss per day = daily output x dust loss x tariff. For an example 4.7 kWp home (25.7 kWh/day, RM 0.44/kWh from the 2025 TNB tariff): a short dusty spell costs less than one cleaning, so the app does not say rush out and clean. It says when dust has lasted long enough to be worth cleaning (about 60 days at our 22% test loss, about 265 days at a typical 5%), and it catches faults that cost about RM 154 over 14 days (97% loss). Sources and inputs are in docs/assumptions.md; all inputs are TO CONFIRM. The next steps are our suggestions: edit them to match what the team plans. Close: Tomorrow's Solar Plan tells a homeowner what to expect tomorrow, what is going wrong, and what to 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3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66441"/>
            <a:ext cx="10566400" cy="949821"/>
          </a:xfrm>
          <a:prstGeom prst="rect">
            <a:avLst/>
          </a:prstGeom>
          <a:noFill/>
          <a:ln/>
        </p:spPr>
        <p:txBody>
          <a:bodyPr wrap="square" lIns="0" tIns="0" rIns="0" bIns="0" rtlCol="0" anchor="t"/>
          <a:lstStyle>
            <a:lvl1pPr marL="0" indent="0" algn="l">
              <a:lnSpc>
                <a:spcPct val="110000"/>
              </a:lnSpc>
              <a:buNone/>
              <a:defRPr lang="en-US" sz="3400" dirty="0">
                <a:solidFill>
                  <a:srgbClr val="101826"/>
                </a:solidFill>
                <a:latin typeface="DM Sans" pitchFamily="34" charset="0"/>
                <a:ea typeface="DM Sans" pitchFamily="34" charset="-122"/>
                <a:cs typeface="DM Sans" pitchFamily="34" charset="-120"/>
              </a:defRPr>
            </a:lvl1pPr>
          </a:lstStyle>
          <a:p>
            <a:pPr marL="0" indent="0" algn="l">
              <a:lnSpc>
                <a:spcPct val="110000"/>
              </a:lnSpc>
              <a:buNone/>
            </a:pPr>
            <a:endParaRPr lang="en-US" sz="3400" dirty="0"/>
          </a:p>
        </p:txBody>
      </p:sp>
      <p:sp>
        <p:nvSpPr>
          <p:cNvPr id="3" name="Text Placeholder 2"/>
          <p:cNvSpPr>
            <a:spLocks noGrp="1"/>
          </p:cNvSpPr>
          <p:nvPr>
            <p:ph type="body" idx="101"/>
          </p:nvPr>
        </p:nvSpPr>
        <p:spPr>
          <a:xfrm>
            <a:off x="812800" y="2621062"/>
            <a:ext cx="10566400" cy="3424138"/>
          </a:xfrm>
          <a:prstGeom prst="rect">
            <a:avLst/>
          </a:prstGeom>
          <a:noFill/>
          <a:ln/>
        </p:spPr>
        <p:txBody>
          <a:bodyPr wrap="square" lIns="0" tIns="0" rIns="0" bIns="0" rtlCol="0" anchor="t"/>
          <a:lstStyle>
            <a:lvl1pPr marL="0" indent="0" algn="l">
              <a:lnSpc>
                <a:spcPct val="140000"/>
              </a:lnSpc>
              <a:buNone/>
              <a:defRPr lang="en-US" sz="1600" dirty="0">
                <a:solidFill>
                  <a:srgbClr val="10182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66441"/>
            <a:ext cx="10566400" cy="949821"/>
          </a:xfrm>
          <a:prstGeom prst="rect">
            <a:avLst/>
          </a:prstGeom>
          <a:noFill/>
          <a:ln/>
        </p:spPr>
        <p:txBody>
          <a:bodyPr wrap="square" lIns="0" tIns="0" rIns="0" bIns="0" rtlCol="0" anchor="t"/>
          <a:lstStyle>
            <a:lvl1pPr marL="0" indent="0" algn="l">
              <a:lnSpc>
                <a:spcPct val="110000"/>
              </a:lnSpc>
              <a:buNone/>
              <a:defRPr lang="en-US" sz="3400" dirty="0">
                <a:solidFill>
                  <a:srgbClr val="101826"/>
                </a:solidFill>
                <a:latin typeface="DM Sans" pitchFamily="34" charset="0"/>
                <a:ea typeface="DM Sans" pitchFamily="34" charset="-122"/>
                <a:cs typeface="DM Sans" pitchFamily="34" charset="-120"/>
              </a:defRPr>
            </a:lvl1pPr>
          </a:lstStyle>
          <a:p>
            <a:pPr marL="0" indent="0" algn="l">
              <a:lnSpc>
                <a:spcPct val="110000"/>
              </a:lnSpc>
              <a:buNone/>
            </a:pPr>
            <a:endParaRPr lang="en-US" sz="3400" dirty="0"/>
          </a:p>
        </p:txBody>
      </p:sp>
      <p:sp>
        <p:nvSpPr>
          <p:cNvPr id="3" name="Text Placeholder 2"/>
          <p:cNvSpPr>
            <a:spLocks noGrp="1"/>
          </p:cNvSpPr>
          <p:nvPr>
            <p:ph type="body" idx="101"/>
          </p:nvPr>
        </p:nvSpPr>
        <p:spPr>
          <a:xfrm>
            <a:off x="812800" y="2621062"/>
            <a:ext cx="10566400" cy="3424138"/>
          </a:xfrm>
          <a:prstGeom prst="rect">
            <a:avLst/>
          </a:prstGeom>
          <a:noFill/>
          <a:ln/>
        </p:spPr>
        <p:txBody>
          <a:bodyPr wrap="square" lIns="0" tIns="0" rIns="0" bIns="0" rtlCol="0" anchor="t"/>
          <a:lstStyle>
            <a:lvl1pPr marL="0" indent="0" algn="l">
              <a:lnSpc>
                <a:spcPct val="140000"/>
              </a:lnSpc>
              <a:buNone/>
              <a:defRPr lang="en-US" sz="1600" dirty="0">
                <a:solidFill>
                  <a:srgbClr val="10182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5A524"/>
                </a:solidFill>
                <a:latin typeface="DM Sans" pitchFamily="34" charset="0"/>
                <a:ea typeface="DM Sans" pitchFamily="34" charset="-122"/>
                <a:cs typeface="DM Sans" pitchFamily="34" charset="-120"/>
              </a:rPr>
              <a:t>TOMORROW'S SOLAR PLAN · 1 · THE PROBLEM</a:t>
            </a:r>
            <a:endParaRPr lang="en-US" sz="1400" dirty="0"/>
          </a:p>
        </p:txBody>
      </p:sp>
      <p:sp>
        <p:nvSpPr>
          <p:cNvPr id="3" name="Text 1"/>
          <p:cNvSpPr>
            <a:spLocks noGrp="1"/>
          </p:cNvSpPr>
          <p:nvPr>
            <p:ph type="title"/>
          </p:nvPr>
        </p:nvSpPr>
        <p:spPr>
          <a:xfrm>
            <a:off x="812800" y="1366441"/>
            <a:ext cx="10883392" cy="103108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3EA"/>
                </a:solidFill>
                <a:latin typeface="DM Sans" pitchFamily="34" charset="0"/>
                <a:ea typeface="DM Sans" pitchFamily="34" charset="-122"/>
                <a:cs typeface="DM Sans" pitchFamily="34" charset="-120"/>
              </a:rPr>
              <a:t>A solar system can lose a fifth of its output for days, and nothing tells the owner.</a:t>
            </a:r>
            <a:endParaRPr lang="en-US" sz="3600" dirty="0"/>
          </a:p>
        </p:txBody>
      </p:sp>
      <p:sp>
        <p:nvSpPr>
          <p:cNvPr id="4" name="Shape 2"/>
          <p:cNvSpPr/>
          <p:nvPr/>
        </p:nvSpPr>
        <p:spPr>
          <a:xfrm>
            <a:off x="812800" y="2676922"/>
            <a:ext cx="3369667" cy="2208411"/>
          </a:xfrm>
          <a:prstGeom prst="roundRect">
            <a:avLst>
              <a:gd name="adj" fmla="val 4601"/>
            </a:avLst>
          </a:prstGeom>
          <a:solidFill>
            <a:srgbClr val="1B2638"/>
          </a:solidFill>
          <a:ln/>
        </p:spPr>
        <p:txBody>
          <a:bodyPr/>
          <a:lstStyle/>
          <a:p>
            <a:endParaRPr lang="en-MY"/>
          </a:p>
        </p:txBody>
      </p:sp>
      <p:sp>
        <p:nvSpPr>
          <p:cNvPr id="5" name="Text 3"/>
          <p:cNvSpPr/>
          <p:nvPr/>
        </p:nvSpPr>
        <p:spPr>
          <a:xfrm>
            <a:off x="1066800" y="2930922"/>
            <a:ext cx="2947517"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5A524"/>
                </a:solidFill>
                <a:latin typeface="DM Sans" pitchFamily="34" charset="0"/>
                <a:ea typeface="DM Sans" pitchFamily="34" charset="-122"/>
                <a:cs typeface="DM Sans" pitchFamily="34" charset="-120"/>
              </a:rPr>
              <a:t>~22%</a:t>
            </a:r>
            <a:endParaRPr lang="en-US" sz="6000" dirty="0"/>
          </a:p>
        </p:txBody>
      </p:sp>
      <p:sp>
        <p:nvSpPr>
          <p:cNvPr id="6" name="Text 4"/>
          <p:cNvSpPr/>
          <p:nvPr/>
        </p:nvSpPr>
        <p:spPr>
          <a:xfrm>
            <a:off x="1066800" y="3769122"/>
            <a:ext cx="2947517"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DM Sans" pitchFamily="34" charset="0"/>
                <a:ea typeface="DM Sans" pitchFamily="34" charset="-122"/>
                <a:cs typeface="DM Sans" pitchFamily="34" charset="-120"/>
              </a:rPr>
              <a:t>below normal for one dusty week</a:t>
            </a:r>
            <a:endParaRPr lang="en-US" sz="1600" dirty="0"/>
          </a:p>
        </p:txBody>
      </p:sp>
      <p:sp>
        <p:nvSpPr>
          <p:cNvPr id="7" name="Text 5"/>
          <p:cNvSpPr/>
          <p:nvPr/>
        </p:nvSpPr>
        <p:spPr>
          <a:xfrm>
            <a:off x="1066800" y="4414242"/>
            <a:ext cx="29475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0CC"/>
                </a:solidFill>
                <a:latin typeface="DM Sans" pitchFamily="34" charset="0"/>
                <a:ea typeface="DM Sans" pitchFamily="34" charset="-122"/>
                <a:cs typeface="DM Sans" pitchFamily="34" charset="-120"/>
              </a:rPr>
              <a:t>About 540 kWh lost, Feb 10–16</a:t>
            </a:r>
            <a:endParaRPr lang="en-US" sz="1200" dirty="0"/>
          </a:p>
        </p:txBody>
      </p:sp>
      <p:sp>
        <p:nvSpPr>
          <p:cNvPr id="8" name="Shape 6"/>
          <p:cNvSpPr/>
          <p:nvPr/>
        </p:nvSpPr>
        <p:spPr>
          <a:xfrm>
            <a:off x="4385667" y="2676922"/>
            <a:ext cx="3369766" cy="2208411"/>
          </a:xfrm>
          <a:prstGeom prst="roundRect">
            <a:avLst>
              <a:gd name="adj" fmla="val 4601"/>
            </a:avLst>
          </a:prstGeom>
          <a:solidFill>
            <a:srgbClr val="1B2638"/>
          </a:solidFill>
          <a:ln/>
        </p:spPr>
        <p:txBody>
          <a:bodyPr/>
          <a:lstStyle/>
          <a:p>
            <a:endParaRPr lang="en-MY"/>
          </a:p>
        </p:txBody>
      </p:sp>
      <p:sp>
        <p:nvSpPr>
          <p:cNvPr id="9" name="Text 7"/>
          <p:cNvSpPr/>
          <p:nvPr/>
        </p:nvSpPr>
        <p:spPr>
          <a:xfrm>
            <a:off x="4639667" y="2930922"/>
            <a:ext cx="2947619"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5A524"/>
                </a:solidFill>
                <a:latin typeface="DM Sans" pitchFamily="34" charset="0"/>
                <a:ea typeface="DM Sans" pitchFamily="34" charset="-122"/>
                <a:cs typeface="DM Sans" pitchFamily="34" charset="-120"/>
              </a:rPr>
              <a:t>~97%</a:t>
            </a:r>
            <a:endParaRPr lang="en-US" sz="6000" dirty="0"/>
          </a:p>
        </p:txBody>
      </p:sp>
      <p:sp>
        <p:nvSpPr>
          <p:cNvPr id="10" name="Text 8"/>
          <p:cNvSpPr/>
          <p:nvPr/>
        </p:nvSpPr>
        <p:spPr>
          <a:xfrm>
            <a:off x="4639667" y="3769122"/>
            <a:ext cx="294761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DM Sans" pitchFamily="34" charset="0"/>
                <a:ea typeface="DM Sans" pitchFamily="34" charset="-122"/>
                <a:cs typeface="DM Sans" pitchFamily="34" charset="-120"/>
              </a:rPr>
              <a:t>drop during an inverter fault</a:t>
            </a:r>
            <a:endParaRPr lang="en-US" sz="1600" dirty="0"/>
          </a:p>
        </p:txBody>
      </p:sp>
      <p:sp>
        <p:nvSpPr>
          <p:cNvPr id="11" name="Text 9"/>
          <p:cNvSpPr/>
          <p:nvPr/>
        </p:nvSpPr>
        <p:spPr>
          <a:xfrm>
            <a:off x="4639667" y="4129782"/>
            <a:ext cx="29476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0CC"/>
                </a:solidFill>
                <a:latin typeface="DM Sans" pitchFamily="34" charset="0"/>
                <a:ea typeface="DM Sans" pitchFamily="34" charset="-122"/>
                <a:cs typeface="DM Sans" pitchFamily="34" charset="-120"/>
              </a:rPr>
              <a:t>Jan 31, 10 hours: 9 kWh made vs ~302 expected</a:t>
            </a:r>
            <a:endParaRPr lang="en-US" sz="1200" dirty="0"/>
          </a:p>
        </p:txBody>
      </p:sp>
      <p:sp>
        <p:nvSpPr>
          <p:cNvPr id="12" name="Shape 10"/>
          <p:cNvSpPr/>
          <p:nvPr/>
        </p:nvSpPr>
        <p:spPr>
          <a:xfrm>
            <a:off x="7958634" y="2676922"/>
            <a:ext cx="3420566" cy="2208411"/>
          </a:xfrm>
          <a:prstGeom prst="roundRect">
            <a:avLst>
              <a:gd name="adj" fmla="val 4601"/>
            </a:avLst>
          </a:prstGeom>
          <a:solidFill>
            <a:srgbClr val="1B2638"/>
          </a:solidFill>
          <a:ln/>
        </p:spPr>
        <p:txBody>
          <a:bodyPr/>
          <a:lstStyle/>
          <a:p>
            <a:endParaRPr lang="en-MY"/>
          </a:p>
        </p:txBody>
      </p:sp>
      <p:sp>
        <p:nvSpPr>
          <p:cNvPr id="13" name="Shape 11"/>
          <p:cNvSpPr/>
          <p:nvPr/>
        </p:nvSpPr>
        <p:spPr>
          <a:xfrm>
            <a:off x="7958634" y="2676922"/>
            <a:ext cx="3420566" cy="2208411"/>
          </a:xfrm>
          <a:custGeom>
            <a:avLst/>
            <a:gdLst/>
            <a:ahLst/>
            <a:cxnLst/>
            <a:rect l="l" t="t" r="r" b="b"/>
            <a:pathLst>
              <a:path w="3420566" h="2208411">
                <a:moveTo>
                  <a:pt x="101600" y="2208411"/>
                </a:moveTo>
                <a:lnTo>
                  <a:pt x="101600" y="2208411"/>
                </a:lnTo>
                <a:arcTo wR="101600" hR="101600" stAng="5400000" swAng="5400000"/>
                <a:lnTo>
                  <a:pt x="0" y="101600"/>
                </a:lnTo>
                <a:arcTo wR="101600" hR="101600" stAng="10800000" swAng="5400000"/>
                <a:lnTo>
                  <a:pt x="101600" y="0"/>
                </a:lnTo>
                <a:arcTo wR="50800" hR="101600" stAng="16200000" swAng="-5400000"/>
                <a:lnTo>
                  <a:pt x="50800" y="2106811"/>
                </a:lnTo>
                <a:arcTo wR="50800" hR="101600" stAng="10800000" swAng="-5400000"/>
                <a:close/>
              </a:path>
            </a:pathLst>
          </a:custGeom>
          <a:solidFill>
            <a:srgbClr val="F5A524"/>
          </a:solidFill>
          <a:ln/>
        </p:spPr>
        <p:txBody>
          <a:bodyPr/>
          <a:lstStyle/>
          <a:p>
            <a:endParaRPr lang="en-MY"/>
          </a:p>
        </p:txBody>
      </p:sp>
      <p:sp>
        <p:nvSpPr>
          <p:cNvPr id="14" name="Text 12"/>
          <p:cNvSpPr/>
          <p:nvPr/>
        </p:nvSpPr>
        <p:spPr>
          <a:xfrm>
            <a:off x="8263434" y="2930922"/>
            <a:ext cx="294761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DM Sans" pitchFamily="34" charset="0"/>
                <a:ea typeface="DM Sans" pitchFamily="34" charset="-122"/>
                <a:cs typeface="DM Sans" pitchFamily="34" charset="-120"/>
              </a:rPr>
              <a:t>IN THE REAL WORLD</a:t>
            </a:r>
            <a:endParaRPr lang="en-US" sz="1200" dirty="0"/>
          </a:p>
        </p:txBody>
      </p:sp>
      <p:sp>
        <p:nvSpPr>
          <p:cNvPr id="15" name="Text 13"/>
          <p:cNvSpPr/>
          <p:nvPr/>
        </p:nvSpPr>
        <p:spPr>
          <a:xfrm>
            <a:off x="8263434" y="3245842"/>
            <a:ext cx="2947619" cy="882650"/>
          </a:xfrm>
          <a:prstGeom prst="rect">
            <a:avLst/>
          </a:prstGeom>
          <a:noFill/>
          <a:ln/>
        </p:spPr>
        <p:txBody>
          <a:bodyPr wrap="square" lIns="0" tIns="0" rIns="0" bIns="0" rtlCol="0" anchor="t">
            <a:normAutofit/>
          </a:bodyPr>
          <a:lstStyle/>
          <a:p>
            <a:pPr marL="0" indent="0" algn="l">
              <a:lnSpc>
                <a:spcPts val="2250"/>
              </a:lnSpc>
              <a:buNone/>
            </a:pPr>
            <a:r>
              <a:rPr lang="en-US" sz="1800" dirty="0">
                <a:solidFill>
                  <a:srgbClr val="F7F3EA"/>
                </a:solidFill>
                <a:latin typeface="DM Sans" pitchFamily="34" charset="0"/>
                <a:ea typeface="DM Sans" pitchFamily="34" charset="-122"/>
                <a:cs typeface="DM Sans" pitchFamily="34" charset="-120"/>
              </a:rPr>
              <a:t>Small solar faults went unnoticed for days or weeks.</a:t>
            </a:r>
            <a:endParaRPr lang="en-US" sz="1800" dirty="0"/>
          </a:p>
        </p:txBody>
      </p:sp>
      <p:sp>
        <p:nvSpPr>
          <p:cNvPr id="16" name="Text 14"/>
          <p:cNvSpPr/>
          <p:nvPr/>
        </p:nvSpPr>
        <p:spPr>
          <a:xfrm>
            <a:off x="8263434" y="4204692"/>
            <a:ext cx="29476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0CC"/>
                </a:solidFill>
                <a:latin typeface="DM Sans" pitchFamily="34" charset="0"/>
                <a:ea typeface="DM Sans" pitchFamily="34" charset="-122"/>
                <a:cs typeface="DM Sans" pitchFamily="34" charset="-120"/>
              </a:rPr>
              <a:t>Pecan Street study, 2015: "a $5 issue to fix"</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0CC"/>
                </a:solidFill>
                <a:latin typeface="DM Sans" pitchFamily="34" charset="0"/>
                <a:ea typeface="DM Sans" pitchFamily="34" charset="-122"/>
                <a:cs typeface="DM Sans" pitchFamily="34" charset="-120"/>
              </a:rPr>
              <a:t>Source: our 60-day test data (larger than a typical home), faults added on purpose. Pecan Street, 2015.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B86E00"/>
                </a:solidFill>
                <a:latin typeface="DM Sans" pitchFamily="34" charset="0"/>
                <a:ea typeface="DM Sans" pitchFamily="34" charset="-122"/>
                <a:cs typeface="DM Sans" pitchFamily="34" charset="-120"/>
              </a:rPr>
              <a:t>2 · THE GAP</a:t>
            </a:r>
            <a:endParaRPr lang="en-US" sz="1400" dirty="0"/>
          </a:p>
        </p:txBody>
      </p:sp>
      <p:sp>
        <p:nvSpPr>
          <p:cNvPr id="3" name="Text 1"/>
          <p:cNvSpPr>
            <a:spLocks noGrp="1"/>
          </p:cNvSpPr>
          <p:nvPr>
            <p:ph type="title"/>
          </p:nvPr>
        </p:nvSpPr>
        <p:spPr>
          <a:xfrm>
            <a:off x="812800" y="1366441"/>
            <a:ext cx="10883392" cy="103108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1826"/>
                </a:solidFill>
                <a:latin typeface="DM Sans" pitchFamily="34" charset="0"/>
                <a:ea typeface="DM Sans" pitchFamily="34" charset="-122"/>
                <a:cs typeface="DM Sans" pitchFamily="34" charset="-120"/>
              </a:rPr>
              <a:t>Owners see output after it drops, not what to do next.</a:t>
            </a:r>
            <a:endParaRPr lang="en-US" sz="3600" dirty="0"/>
          </a:p>
        </p:txBody>
      </p:sp>
      <p:sp>
        <p:nvSpPr>
          <p:cNvPr id="4" name="Shape 2"/>
          <p:cNvSpPr/>
          <p:nvPr/>
        </p:nvSpPr>
        <p:spPr>
          <a:xfrm>
            <a:off x="819150" y="2683272"/>
            <a:ext cx="5181600" cy="2547541"/>
          </a:xfrm>
          <a:prstGeom prst="roundRect">
            <a:avLst>
              <a:gd name="adj" fmla="val 3739"/>
            </a:avLst>
          </a:prstGeom>
          <a:solidFill>
            <a:srgbClr val="FFFFFF"/>
          </a:solidFill>
          <a:ln w="12700">
            <a:solidFill>
              <a:srgbClr val="DDD6C6"/>
            </a:solidFill>
            <a:prstDash val="solid"/>
          </a:ln>
        </p:spPr>
        <p:txBody>
          <a:bodyPr/>
          <a:lstStyle/>
          <a:p>
            <a:endParaRPr lang="en-MY"/>
          </a:p>
        </p:txBody>
      </p:sp>
      <p:sp>
        <p:nvSpPr>
          <p:cNvPr id="5" name="Text 3"/>
          <p:cNvSpPr/>
          <p:nvPr/>
        </p:nvSpPr>
        <p:spPr>
          <a:xfrm>
            <a:off x="1079500" y="2943622"/>
            <a:ext cx="48007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1826"/>
                </a:solidFill>
                <a:latin typeface="DM Sans" pitchFamily="34" charset="0"/>
                <a:ea typeface="DM Sans" pitchFamily="34" charset="-122"/>
                <a:cs typeface="DM Sans" pitchFamily="34" charset="-120"/>
              </a:rPr>
              <a:t>What owners face today</a:t>
            </a:r>
            <a:endParaRPr lang="en-US" sz="2000" dirty="0"/>
          </a:p>
        </p:txBody>
      </p:sp>
      <p:sp>
        <p:nvSpPr>
          <p:cNvPr id="6" name="Text 4"/>
          <p:cNvSpPr/>
          <p:nvPr/>
        </p:nvSpPr>
        <p:spPr>
          <a:xfrm>
            <a:off x="1079500" y="3400822"/>
            <a:ext cx="480072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Output can drop for days before they notice.</a:t>
            </a:r>
            <a:endParaRPr lang="en-US" sz="1600" dirty="0"/>
          </a:p>
        </p:txBody>
      </p:sp>
      <p:sp>
        <p:nvSpPr>
          <p:cNvPr id="7" name="Text 5"/>
          <p:cNvSpPr/>
          <p:nvPr/>
        </p:nvSpPr>
        <p:spPr>
          <a:xfrm>
            <a:off x="1079500" y="3837682"/>
            <a:ext cx="4800727"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The cause is unclear: dust, a fault, or the weather?</a:t>
            </a:r>
            <a:endParaRPr lang="en-US" sz="1600" dirty="0"/>
          </a:p>
        </p:txBody>
      </p:sp>
      <p:sp>
        <p:nvSpPr>
          <p:cNvPr id="8" name="Text 6"/>
          <p:cNvSpPr/>
          <p:nvPr/>
        </p:nvSpPr>
        <p:spPr>
          <a:xfrm>
            <a:off x="1079500" y="4559002"/>
            <a:ext cx="49149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No clear next step, and no sense of what it costs.</a:t>
            </a:r>
            <a:endParaRPr lang="en-US" sz="1600" dirty="0"/>
          </a:p>
        </p:txBody>
      </p:sp>
      <p:sp>
        <p:nvSpPr>
          <p:cNvPr id="9" name="Shape 7"/>
          <p:cNvSpPr/>
          <p:nvPr/>
        </p:nvSpPr>
        <p:spPr>
          <a:xfrm>
            <a:off x="6210300" y="2676922"/>
            <a:ext cx="5168900" cy="2560241"/>
          </a:xfrm>
          <a:prstGeom prst="roundRect">
            <a:avLst>
              <a:gd name="adj" fmla="val 3968"/>
            </a:avLst>
          </a:prstGeom>
          <a:solidFill>
            <a:srgbClr val="101826"/>
          </a:solidFill>
          <a:ln/>
        </p:spPr>
        <p:txBody>
          <a:bodyPr/>
          <a:lstStyle/>
          <a:p>
            <a:endParaRPr lang="en-MY"/>
          </a:p>
        </p:txBody>
      </p:sp>
      <p:sp>
        <p:nvSpPr>
          <p:cNvPr id="10" name="Text 8"/>
          <p:cNvSpPr/>
          <p:nvPr/>
        </p:nvSpPr>
        <p:spPr>
          <a:xfrm>
            <a:off x="6464300" y="2930922"/>
            <a:ext cx="48007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A524"/>
                </a:solidFill>
                <a:latin typeface="DM Sans" pitchFamily="34" charset="0"/>
                <a:ea typeface="DM Sans" pitchFamily="34" charset="-122"/>
                <a:cs typeface="DM Sans" pitchFamily="34" charset="-120"/>
              </a:rPr>
              <a:t>Our app, one screen</a:t>
            </a:r>
            <a:endParaRPr lang="en-US" sz="2000" dirty="0"/>
          </a:p>
        </p:txBody>
      </p:sp>
      <p:sp>
        <p:nvSpPr>
          <p:cNvPr id="11" name="Text 9"/>
          <p:cNvSpPr/>
          <p:nvPr/>
        </p:nvSpPr>
        <p:spPr>
          <a:xfrm>
            <a:off x="6464300" y="3388122"/>
            <a:ext cx="48007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3EA"/>
                </a:solidFill>
                <a:latin typeface="DM Sans" pitchFamily="34" charset="0"/>
                <a:ea typeface="DM Sans" pitchFamily="34" charset="-122"/>
                <a:cs typeface="DM Sans" pitchFamily="34" charset="-120"/>
              </a:rPr>
              <a:t>Outlook:</a:t>
            </a:r>
            <a:r>
              <a:rPr lang="en-US" sz="1600" dirty="0">
                <a:solidFill>
                  <a:srgbClr val="F7F3EA"/>
                </a:solidFill>
                <a:latin typeface="DM Sans" pitchFamily="34" charset="0"/>
                <a:ea typeface="DM Sans" pitchFamily="34" charset="-122"/>
                <a:cs typeface="DM Sans" pitchFamily="34" charset="-120"/>
              </a:rPr>
              <a:t> tomorrow's expected output</a:t>
            </a:r>
            <a:endParaRPr lang="en-US" sz="1600" dirty="0"/>
          </a:p>
        </p:txBody>
      </p:sp>
      <p:sp>
        <p:nvSpPr>
          <p:cNvPr id="12" name="Text 10"/>
          <p:cNvSpPr/>
          <p:nvPr/>
        </p:nvSpPr>
        <p:spPr>
          <a:xfrm>
            <a:off x="6464300" y="3824982"/>
            <a:ext cx="48007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3EA"/>
                </a:solidFill>
                <a:latin typeface="DM Sans" pitchFamily="34" charset="0"/>
                <a:ea typeface="DM Sans" pitchFamily="34" charset="-122"/>
                <a:cs typeface="DM Sans" pitchFamily="34" charset="-120"/>
              </a:rPr>
              <a:t>Check:</a:t>
            </a:r>
            <a:r>
              <a:rPr lang="en-US" sz="1600" dirty="0">
                <a:solidFill>
                  <a:srgbClr val="F7F3EA"/>
                </a:solidFill>
                <a:latin typeface="DM Sans" pitchFamily="34" charset="0"/>
                <a:ea typeface="DM Sans" pitchFamily="34" charset="-122"/>
                <a:cs typeface="DM Sans" pitchFamily="34" charset="-120"/>
              </a:rPr>
              <a:t> the problem found, and what kind</a:t>
            </a:r>
            <a:endParaRPr lang="en-US" sz="1600" dirty="0"/>
          </a:p>
        </p:txBody>
      </p:sp>
      <p:sp>
        <p:nvSpPr>
          <p:cNvPr id="13" name="Text 11"/>
          <p:cNvSpPr/>
          <p:nvPr/>
        </p:nvSpPr>
        <p:spPr>
          <a:xfrm>
            <a:off x="6464300" y="4261842"/>
            <a:ext cx="48007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3EA"/>
                </a:solidFill>
                <a:latin typeface="DM Sans" pitchFamily="34" charset="0"/>
                <a:ea typeface="DM Sans" pitchFamily="34" charset="-122"/>
                <a:cs typeface="DM Sans" pitchFamily="34" charset="-120"/>
              </a:rPr>
              <a:t>Do:</a:t>
            </a:r>
            <a:r>
              <a:rPr lang="en-US" sz="1600" dirty="0">
                <a:solidFill>
                  <a:srgbClr val="F7F3EA"/>
                </a:solidFill>
                <a:latin typeface="DM Sans" pitchFamily="34" charset="0"/>
                <a:ea typeface="DM Sans" pitchFamily="34" charset="-122"/>
                <a:cs typeface="DM Sans" pitchFamily="34" charset="-120"/>
              </a:rPr>
              <a:t> what to do about it</a:t>
            </a:r>
            <a:endParaRPr lang="en-US" sz="1600" dirty="0"/>
          </a:p>
        </p:txBody>
      </p:sp>
      <p:sp>
        <p:nvSpPr>
          <p:cNvPr id="14" name="Text 12"/>
          <p:cNvSpPr/>
          <p:nvPr/>
        </p:nvSpPr>
        <p:spPr>
          <a:xfrm>
            <a:off x="6464300" y="4698702"/>
            <a:ext cx="48007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3EA"/>
                </a:solidFill>
                <a:latin typeface="DM Sans" pitchFamily="34" charset="0"/>
                <a:ea typeface="DM Sans" pitchFamily="34" charset="-122"/>
                <a:cs typeface="DM Sans" pitchFamily="34" charset="-120"/>
              </a:rPr>
              <a:t>Battery:</a:t>
            </a:r>
            <a:r>
              <a:rPr lang="en-US" sz="1600" dirty="0">
                <a:solidFill>
                  <a:srgbClr val="F7F3EA"/>
                </a:solidFill>
                <a:latin typeface="DM Sans" pitchFamily="34" charset="0"/>
                <a:ea typeface="DM Sans" pitchFamily="34" charset="-122"/>
                <a:cs typeface="DM Sans" pitchFamily="34" charset="-120"/>
              </a:rPr>
              <a:t> how to use stored power</a:t>
            </a:r>
            <a:endParaRPr lang="en-US" sz="16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No login and no dashboard to read. Source for the problem: Pecan Street, 2015.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5A524"/>
                </a:solidFill>
                <a:latin typeface="DM Sans" pitchFamily="34" charset="0"/>
                <a:ea typeface="DM Sans" pitchFamily="34" charset="-122"/>
                <a:cs typeface="DM Sans" pitchFamily="34" charset="-120"/>
              </a:rPr>
              <a:t>3 · THE DEMO</a:t>
            </a:r>
            <a:endParaRPr lang="en-US" sz="1400" dirty="0"/>
          </a:p>
        </p:txBody>
      </p:sp>
      <p:sp>
        <p:nvSpPr>
          <p:cNvPr id="3" name="Text 1"/>
          <p:cNvSpPr>
            <a:spLocks noGrp="1"/>
          </p:cNvSpPr>
          <p:nvPr>
            <p:ph type="title"/>
          </p:nvPr>
        </p:nvSpPr>
        <p:spPr>
          <a:xfrm>
            <a:off x="812800" y="1366441"/>
            <a:ext cx="1137920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3EA"/>
                </a:solidFill>
                <a:latin typeface="DM Sans" pitchFamily="34" charset="0"/>
                <a:ea typeface="DM Sans" pitchFamily="34" charset="-122"/>
                <a:cs typeface="DM Sans" pitchFamily="34" charset="-120"/>
              </a:rPr>
              <a:t>One screen, three buttons, a plain-language answer.</a:t>
            </a:r>
            <a:endParaRPr lang="en-US" sz="3200" dirty="0"/>
          </a:p>
        </p:txBody>
      </p:sp>
      <p:sp>
        <p:nvSpPr>
          <p:cNvPr id="4" name="Shape 2"/>
          <p:cNvSpPr/>
          <p:nvPr/>
        </p:nvSpPr>
        <p:spPr>
          <a:xfrm>
            <a:off x="812800" y="2118221"/>
            <a:ext cx="6882705" cy="977900"/>
          </a:xfrm>
          <a:prstGeom prst="roundRect">
            <a:avLst>
              <a:gd name="adj" fmla="val 10390"/>
            </a:avLst>
          </a:prstGeom>
          <a:solidFill>
            <a:srgbClr val="1B2638"/>
          </a:solidFill>
          <a:ln/>
        </p:spPr>
        <p:txBody>
          <a:bodyPr/>
          <a:lstStyle/>
          <a:p>
            <a:endParaRPr lang="en-MY"/>
          </a:p>
        </p:txBody>
      </p:sp>
      <p:sp>
        <p:nvSpPr>
          <p:cNvPr id="5" name="Shape 3"/>
          <p:cNvSpPr/>
          <p:nvPr/>
        </p:nvSpPr>
        <p:spPr>
          <a:xfrm>
            <a:off x="812800" y="2118221"/>
            <a:ext cx="6882705" cy="977900"/>
          </a:xfrm>
          <a:custGeom>
            <a:avLst/>
            <a:gdLst/>
            <a:ahLst/>
            <a:cxnLst/>
            <a:rect l="l" t="t" r="r" b="b"/>
            <a:pathLst>
              <a:path w="6882705" h="977900">
                <a:moveTo>
                  <a:pt x="101600" y="977900"/>
                </a:moveTo>
                <a:lnTo>
                  <a:pt x="101600" y="977900"/>
                </a:lnTo>
                <a:arcTo wR="101600" hR="101600" stAng="5400000" swAng="5400000"/>
                <a:lnTo>
                  <a:pt x="0" y="101600"/>
                </a:lnTo>
                <a:arcTo wR="101600" hR="101600" stAng="10800000" swAng="5400000"/>
                <a:lnTo>
                  <a:pt x="101600" y="0"/>
                </a:lnTo>
                <a:arcTo wR="50800" hR="101600" stAng="16200000" swAng="-5400000"/>
                <a:lnTo>
                  <a:pt x="50800" y="876300"/>
                </a:lnTo>
                <a:arcTo wR="50800" hR="101600" stAng="10800000" swAng="-5400000"/>
                <a:close/>
              </a:path>
            </a:pathLst>
          </a:custGeom>
          <a:solidFill>
            <a:srgbClr val="7FD6A0"/>
          </a:solidFill>
          <a:ln/>
        </p:spPr>
        <p:txBody>
          <a:bodyPr/>
          <a:lstStyle/>
          <a:p>
            <a:endParaRPr lang="en-MY"/>
          </a:p>
        </p:txBody>
      </p:sp>
      <p:sp>
        <p:nvSpPr>
          <p:cNvPr id="6" name="Text 4"/>
          <p:cNvSpPr/>
          <p:nvPr/>
        </p:nvSpPr>
        <p:spPr>
          <a:xfrm>
            <a:off x="1092200" y="2296021"/>
            <a:ext cx="656594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3EA"/>
                </a:solidFill>
                <a:latin typeface="DM Sans" pitchFamily="34" charset="0"/>
                <a:ea typeface="DM Sans" pitchFamily="34" charset="-122"/>
                <a:cs typeface="DM Sans" pitchFamily="34" charset="-120"/>
              </a:rPr>
              <a:t>Normal day</a:t>
            </a:r>
            <a:endParaRPr lang="en-US" sz="2000" dirty="0"/>
          </a:p>
        </p:txBody>
      </p:sp>
      <p:sp>
        <p:nvSpPr>
          <p:cNvPr id="7" name="Text 5"/>
          <p:cNvSpPr/>
          <p:nvPr/>
        </p:nvSpPr>
        <p:spPr>
          <a:xfrm>
            <a:off x="1092200" y="2651621"/>
            <a:ext cx="656594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0CC"/>
                </a:solidFill>
                <a:latin typeface="DM Sans" pitchFamily="34" charset="0"/>
                <a:ea typeface="DM Sans" pitchFamily="34" charset="-122"/>
                <a:cs typeface="DM Sans" pitchFamily="34" charset="-120"/>
              </a:rPr>
              <a:t>Check card is green. Nothing is wrong.</a:t>
            </a:r>
            <a:endParaRPr lang="en-US" sz="1500" dirty="0"/>
          </a:p>
        </p:txBody>
      </p:sp>
      <p:sp>
        <p:nvSpPr>
          <p:cNvPr id="8" name="Shape 6"/>
          <p:cNvSpPr/>
          <p:nvPr/>
        </p:nvSpPr>
        <p:spPr>
          <a:xfrm>
            <a:off x="812800" y="3223121"/>
            <a:ext cx="6882705" cy="977900"/>
          </a:xfrm>
          <a:prstGeom prst="roundRect">
            <a:avLst>
              <a:gd name="adj" fmla="val 10390"/>
            </a:avLst>
          </a:prstGeom>
          <a:solidFill>
            <a:srgbClr val="1B2638"/>
          </a:solidFill>
          <a:ln/>
        </p:spPr>
        <p:txBody>
          <a:bodyPr/>
          <a:lstStyle/>
          <a:p>
            <a:endParaRPr lang="en-MY"/>
          </a:p>
        </p:txBody>
      </p:sp>
      <p:sp>
        <p:nvSpPr>
          <p:cNvPr id="9" name="Shape 7"/>
          <p:cNvSpPr/>
          <p:nvPr/>
        </p:nvSpPr>
        <p:spPr>
          <a:xfrm>
            <a:off x="812800" y="3223121"/>
            <a:ext cx="6882705" cy="977900"/>
          </a:xfrm>
          <a:custGeom>
            <a:avLst/>
            <a:gdLst/>
            <a:ahLst/>
            <a:cxnLst/>
            <a:rect l="l" t="t" r="r" b="b"/>
            <a:pathLst>
              <a:path w="6882705" h="977900">
                <a:moveTo>
                  <a:pt x="101600" y="977900"/>
                </a:moveTo>
                <a:lnTo>
                  <a:pt x="101600" y="977900"/>
                </a:lnTo>
                <a:arcTo wR="101600" hR="101600" stAng="5400000" swAng="5400000"/>
                <a:lnTo>
                  <a:pt x="0" y="101600"/>
                </a:lnTo>
                <a:arcTo wR="101600" hR="101600" stAng="10800000" swAng="5400000"/>
                <a:lnTo>
                  <a:pt x="101600" y="0"/>
                </a:lnTo>
                <a:arcTo wR="50800" hR="101600" stAng="16200000" swAng="-5400000"/>
                <a:lnTo>
                  <a:pt x="50800" y="876300"/>
                </a:lnTo>
                <a:arcTo wR="50800" hR="101600" stAng="10800000" swAng="-5400000"/>
                <a:close/>
              </a:path>
            </a:pathLst>
          </a:custGeom>
          <a:solidFill>
            <a:srgbClr val="F5A524"/>
          </a:solidFill>
          <a:ln/>
        </p:spPr>
        <p:txBody>
          <a:bodyPr/>
          <a:lstStyle/>
          <a:p>
            <a:endParaRPr lang="en-MY"/>
          </a:p>
        </p:txBody>
      </p:sp>
      <p:sp>
        <p:nvSpPr>
          <p:cNvPr id="10" name="Text 8"/>
          <p:cNvSpPr/>
          <p:nvPr/>
        </p:nvSpPr>
        <p:spPr>
          <a:xfrm>
            <a:off x="1092200" y="3400921"/>
            <a:ext cx="656594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3EA"/>
                </a:solidFill>
                <a:latin typeface="DM Sans" pitchFamily="34" charset="0"/>
                <a:ea typeface="DM Sans" pitchFamily="34" charset="-122"/>
                <a:cs typeface="DM Sans" pitchFamily="34" charset="-120"/>
              </a:rPr>
              <a:t>Dusty panels</a:t>
            </a:r>
            <a:endParaRPr lang="en-US" sz="2000" dirty="0"/>
          </a:p>
        </p:txBody>
      </p:sp>
      <p:sp>
        <p:nvSpPr>
          <p:cNvPr id="11" name="Text 9"/>
          <p:cNvSpPr/>
          <p:nvPr/>
        </p:nvSpPr>
        <p:spPr>
          <a:xfrm>
            <a:off x="1092200" y="3756521"/>
            <a:ext cx="656594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0CC"/>
                </a:solidFill>
                <a:latin typeface="DM Sans" pitchFamily="34" charset="0"/>
                <a:ea typeface="DM Sans" pitchFamily="34" charset="-122"/>
                <a:cs typeface="DM Sans" pitchFamily="34" charset="-120"/>
              </a:rPr>
              <a:t>Check card turns orange. Dust (soiling) is flagged.</a:t>
            </a:r>
            <a:endParaRPr lang="en-US" sz="1500" dirty="0"/>
          </a:p>
        </p:txBody>
      </p:sp>
      <p:sp>
        <p:nvSpPr>
          <p:cNvPr id="12" name="Shape 10"/>
          <p:cNvSpPr/>
          <p:nvPr/>
        </p:nvSpPr>
        <p:spPr>
          <a:xfrm>
            <a:off x="812800" y="4328021"/>
            <a:ext cx="6882705" cy="977900"/>
          </a:xfrm>
          <a:prstGeom prst="roundRect">
            <a:avLst>
              <a:gd name="adj" fmla="val 10390"/>
            </a:avLst>
          </a:prstGeom>
          <a:solidFill>
            <a:srgbClr val="1B2638"/>
          </a:solidFill>
          <a:ln/>
        </p:spPr>
        <p:txBody>
          <a:bodyPr/>
          <a:lstStyle/>
          <a:p>
            <a:endParaRPr lang="en-MY"/>
          </a:p>
        </p:txBody>
      </p:sp>
      <p:sp>
        <p:nvSpPr>
          <p:cNvPr id="13" name="Shape 11"/>
          <p:cNvSpPr/>
          <p:nvPr/>
        </p:nvSpPr>
        <p:spPr>
          <a:xfrm>
            <a:off x="812800" y="4328021"/>
            <a:ext cx="6882705" cy="977900"/>
          </a:xfrm>
          <a:custGeom>
            <a:avLst/>
            <a:gdLst/>
            <a:ahLst/>
            <a:cxnLst/>
            <a:rect l="l" t="t" r="r" b="b"/>
            <a:pathLst>
              <a:path w="6882705" h="977900">
                <a:moveTo>
                  <a:pt x="101600" y="977900"/>
                </a:moveTo>
                <a:lnTo>
                  <a:pt x="101600" y="977900"/>
                </a:lnTo>
                <a:arcTo wR="101600" hR="101600" stAng="5400000" swAng="5400000"/>
                <a:lnTo>
                  <a:pt x="0" y="101600"/>
                </a:lnTo>
                <a:arcTo wR="101600" hR="101600" stAng="10800000" swAng="5400000"/>
                <a:lnTo>
                  <a:pt x="101600" y="0"/>
                </a:lnTo>
                <a:arcTo wR="50800" hR="101600" stAng="16200000" swAng="-5400000"/>
                <a:lnTo>
                  <a:pt x="50800" y="876300"/>
                </a:lnTo>
                <a:arcTo wR="50800" hR="101600" stAng="10800000" swAng="-5400000"/>
                <a:close/>
              </a:path>
            </a:pathLst>
          </a:custGeom>
          <a:solidFill>
            <a:srgbClr val="F5A524"/>
          </a:solidFill>
          <a:ln/>
        </p:spPr>
        <p:txBody>
          <a:bodyPr/>
          <a:lstStyle/>
          <a:p>
            <a:endParaRPr lang="en-MY"/>
          </a:p>
        </p:txBody>
      </p:sp>
      <p:sp>
        <p:nvSpPr>
          <p:cNvPr id="14" name="Text 12"/>
          <p:cNvSpPr/>
          <p:nvPr/>
        </p:nvSpPr>
        <p:spPr>
          <a:xfrm>
            <a:off x="1092200" y="4505821"/>
            <a:ext cx="656594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3EA"/>
                </a:solidFill>
                <a:latin typeface="DM Sans" pitchFamily="34" charset="0"/>
                <a:ea typeface="DM Sans" pitchFamily="34" charset="-122"/>
                <a:cs typeface="DM Sans" pitchFamily="34" charset="-120"/>
              </a:rPr>
              <a:t>Inverter fault</a:t>
            </a:r>
            <a:endParaRPr lang="en-US" sz="2000" dirty="0"/>
          </a:p>
        </p:txBody>
      </p:sp>
      <p:sp>
        <p:nvSpPr>
          <p:cNvPr id="15" name="Text 13"/>
          <p:cNvSpPr/>
          <p:nvPr/>
        </p:nvSpPr>
        <p:spPr>
          <a:xfrm>
            <a:off x="1092200" y="4861421"/>
            <a:ext cx="656594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0CC"/>
                </a:solidFill>
                <a:latin typeface="DM Sans" pitchFamily="34" charset="0"/>
                <a:ea typeface="DM Sans" pitchFamily="34" charset="-122"/>
                <a:cs typeface="DM Sans" pitchFamily="34" charset="-120"/>
              </a:rPr>
              <a:t>Check card turns orange. An equipment fault is flagged.</a:t>
            </a:r>
            <a:endParaRPr lang="en-US" sz="1500" dirty="0"/>
          </a:p>
        </p:txBody>
      </p:sp>
      <p:sp>
        <p:nvSpPr>
          <p:cNvPr id="16" name="Shape 14"/>
          <p:cNvSpPr/>
          <p:nvPr/>
        </p:nvSpPr>
        <p:spPr>
          <a:xfrm>
            <a:off x="8000305" y="2287191"/>
            <a:ext cx="3378895" cy="2849761"/>
          </a:xfrm>
          <a:prstGeom prst="roundRect">
            <a:avLst>
              <a:gd name="adj" fmla="val 3565"/>
            </a:avLst>
          </a:prstGeom>
          <a:solidFill>
            <a:srgbClr val="F7F3EA"/>
          </a:solidFill>
          <a:ln/>
        </p:spPr>
        <p:txBody>
          <a:bodyPr/>
          <a:lstStyle/>
          <a:p>
            <a:endParaRPr lang="en-MY"/>
          </a:p>
        </p:txBody>
      </p:sp>
      <p:sp>
        <p:nvSpPr>
          <p:cNvPr id="18" name="Text 15"/>
          <p:cNvSpPr/>
          <p:nvPr/>
        </p:nvSpPr>
        <p:spPr>
          <a:xfrm>
            <a:off x="9217371" y="3290440"/>
            <a:ext cx="94476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01826"/>
                </a:solidFill>
                <a:latin typeface="DM Sans" pitchFamily="34" charset="0"/>
                <a:ea typeface="DM Sans" pitchFamily="34" charset="-122"/>
                <a:cs typeface="DM Sans" pitchFamily="34" charset="-120"/>
              </a:rPr>
              <a:t>Try it live</a:t>
            </a:r>
            <a:endParaRPr lang="en-US" sz="1400" dirty="0"/>
          </a:p>
        </p:txBody>
      </p:sp>
      <p:sp>
        <p:nvSpPr>
          <p:cNvPr id="19" name="Text 16"/>
          <p:cNvSpPr/>
          <p:nvPr/>
        </p:nvSpPr>
        <p:spPr>
          <a:xfrm>
            <a:off x="8101903" y="3564681"/>
            <a:ext cx="31756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dormathon-modelprototype.streamlit.app</a:t>
            </a:r>
            <a:endParaRPr lang="en-US" sz="1200"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nSpc>
                <a:spcPts val="1680"/>
              </a:lnSpc>
            </a:pPr>
            <a:r>
              <a:rPr lang="en-US" sz="1200" dirty="0">
                <a:solidFill>
                  <a:srgbClr val="B8C0CC"/>
                </a:solidFill>
                <a:latin typeface="DM Sans" pitchFamily="34" charset="0"/>
                <a:ea typeface="DM Sans" pitchFamily="34" charset="-122"/>
                <a:cs typeface="DM Sans" pitchFamily="34" charset="-120"/>
              </a:rPr>
              <a:t>Live demo, no login, simulated data. Random Forest forecast; rules name the cause; ranked by money lost.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B86E00"/>
                </a:solidFill>
                <a:latin typeface="DM Sans" pitchFamily="34" charset="0"/>
                <a:ea typeface="DM Sans" pitchFamily="34" charset="-122"/>
                <a:cs typeface="DM Sans" pitchFamily="34" charset="-120"/>
              </a:rPr>
              <a:t>4 · THE PROOF</a:t>
            </a:r>
            <a:endParaRPr lang="en-US" sz="1400" dirty="0"/>
          </a:p>
        </p:txBody>
      </p:sp>
      <p:sp>
        <p:nvSpPr>
          <p:cNvPr id="3" name="Text 1"/>
          <p:cNvSpPr>
            <a:spLocks noGrp="1"/>
          </p:cNvSpPr>
          <p:nvPr>
            <p:ph type="title"/>
          </p:nvPr>
        </p:nvSpPr>
        <p:spPr>
          <a:xfrm>
            <a:off x="812800" y="1366441"/>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1826"/>
                </a:solidFill>
                <a:latin typeface="DM Sans" pitchFamily="34" charset="0"/>
                <a:ea typeface="DM Sans" pitchFamily="34" charset="-122"/>
                <a:cs typeface="DM Sans" pitchFamily="34" charset="-120"/>
              </a:rPr>
              <a:t>On test data with faults we added on purpose, the tool found both and named them correctly.</a:t>
            </a:r>
            <a:endParaRPr lang="en-US" sz="3200" dirty="0"/>
          </a:p>
        </p:txBody>
      </p:sp>
      <p:sp>
        <p:nvSpPr>
          <p:cNvPr id="4" name="Shape 2"/>
          <p:cNvSpPr/>
          <p:nvPr/>
        </p:nvSpPr>
        <p:spPr>
          <a:xfrm>
            <a:off x="812800" y="2565202"/>
            <a:ext cx="5168900" cy="3032621"/>
          </a:xfrm>
          <a:prstGeom prst="roundRect">
            <a:avLst>
              <a:gd name="adj" fmla="val 3350"/>
            </a:avLst>
          </a:prstGeom>
          <a:solidFill>
            <a:srgbClr val="101826"/>
          </a:solidFill>
          <a:ln/>
        </p:spPr>
        <p:txBody>
          <a:bodyPr/>
          <a:lstStyle/>
          <a:p>
            <a:endParaRPr lang="en-MY"/>
          </a:p>
        </p:txBody>
      </p:sp>
      <p:sp>
        <p:nvSpPr>
          <p:cNvPr id="5" name="Text 3"/>
          <p:cNvSpPr/>
          <p:nvPr/>
        </p:nvSpPr>
        <p:spPr>
          <a:xfrm>
            <a:off x="1066800" y="2819202"/>
            <a:ext cx="4800727"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5A524"/>
                </a:solidFill>
                <a:latin typeface="DM Sans" pitchFamily="34" charset="0"/>
                <a:ea typeface="DM Sans" pitchFamily="34" charset="-122"/>
                <a:cs typeface="DM Sans" pitchFamily="34" charset="-120"/>
              </a:rPr>
              <a:t>2 of 2</a:t>
            </a:r>
            <a:endParaRPr lang="en-US" sz="6000" dirty="0"/>
          </a:p>
        </p:txBody>
      </p:sp>
      <p:sp>
        <p:nvSpPr>
          <p:cNvPr id="6" name="Text 4"/>
          <p:cNvSpPr/>
          <p:nvPr/>
        </p:nvSpPr>
        <p:spPr>
          <a:xfrm>
            <a:off x="1066800" y="3657402"/>
            <a:ext cx="4800727"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DM Sans" pitchFamily="34" charset="0"/>
                <a:ea typeface="DM Sans" pitchFamily="34" charset="-122"/>
                <a:cs typeface="DM Sans" pitchFamily="34" charset="-120"/>
              </a:rPr>
              <a:t>injected faults caught, with the right type: soiling and equipment fault</a:t>
            </a:r>
            <a:endParaRPr lang="en-US" sz="1600" dirty="0"/>
          </a:p>
        </p:txBody>
      </p:sp>
      <p:sp>
        <p:nvSpPr>
          <p:cNvPr id="7" name="Shape 5"/>
          <p:cNvSpPr/>
          <p:nvPr/>
        </p:nvSpPr>
        <p:spPr>
          <a:xfrm>
            <a:off x="6191250" y="2571552"/>
            <a:ext cx="5181600" cy="3019921"/>
          </a:xfrm>
          <a:prstGeom prst="roundRect">
            <a:avLst>
              <a:gd name="adj" fmla="val 3154"/>
            </a:avLst>
          </a:prstGeom>
          <a:solidFill>
            <a:srgbClr val="FFFFFF"/>
          </a:solidFill>
          <a:ln w="12700">
            <a:solidFill>
              <a:srgbClr val="DDD6C6"/>
            </a:solidFill>
            <a:prstDash val="solid"/>
          </a:ln>
        </p:spPr>
        <p:txBody>
          <a:bodyPr/>
          <a:lstStyle/>
          <a:p>
            <a:endParaRPr lang="en-MY"/>
          </a:p>
        </p:txBody>
      </p:sp>
      <p:sp>
        <p:nvSpPr>
          <p:cNvPr id="8" name="Text 6"/>
          <p:cNvSpPr/>
          <p:nvPr/>
        </p:nvSpPr>
        <p:spPr>
          <a:xfrm>
            <a:off x="6451600" y="2831902"/>
            <a:ext cx="4800727"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826"/>
                </a:solidFill>
                <a:latin typeface="DM Sans" pitchFamily="34" charset="0"/>
                <a:ea typeface="DM Sans" pitchFamily="34" charset="-122"/>
                <a:cs typeface="DM Sans" pitchFamily="34" charset="-120"/>
              </a:rPr>
              <a:t>54.4% lower</a:t>
            </a:r>
            <a:r>
              <a:rPr lang="en-US" sz="1600" dirty="0">
                <a:solidFill>
                  <a:srgbClr val="101826"/>
                </a:solidFill>
                <a:latin typeface="DM Sans" pitchFamily="34" charset="0"/>
                <a:ea typeface="DM Sans" pitchFamily="34" charset="-122"/>
                <a:cs typeface="DM Sans" pitchFamily="34" charset="-120"/>
              </a:rPr>
              <a:t> forecast error on normal days vs "same hour yesterday"</a:t>
            </a:r>
            <a:endParaRPr lang="en-US" sz="1600" dirty="0"/>
          </a:p>
        </p:txBody>
      </p:sp>
      <p:sp>
        <p:nvSpPr>
          <p:cNvPr id="9" name="Text 7"/>
          <p:cNvSpPr/>
          <p:nvPr/>
        </p:nvSpPr>
        <p:spPr>
          <a:xfrm>
            <a:off x="6451600" y="3527822"/>
            <a:ext cx="48007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826"/>
                </a:solidFill>
                <a:latin typeface="DM Sans" pitchFamily="34" charset="0"/>
                <a:ea typeface="DM Sans" pitchFamily="34" charset="-122"/>
                <a:cs typeface="DM Sans" pitchFamily="34" charset="-120"/>
              </a:rPr>
              <a:t>46.9% lower</a:t>
            </a:r>
            <a:r>
              <a:rPr lang="en-US" sz="1600" dirty="0">
                <a:solidFill>
                  <a:srgbClr val="101826"/>
                </a:solidFill>
                <a:latin typeface="DM Sans" pitchFamily="34" charset="0"/>
                <a:ea typeface="DM Sans" pitchFamily="34" charset="-122"/>
                <a:cs typeface="DM Sans" pitchFamily="34" charset="-120"/>
              </a:rPr>
              <a:t> on the fault scenario</a:t>
            </a:r>
            <a:endParaRPr lang="en-US" sz="1600" dirty="0"/>
          </a:p>
        </p:txBody>
      </p:sp>
      <p:sp>
        <p:nvSpPr>
          <p:cNvPr id="10" name="Text 8"/>
          <p:cNvSpPr/>
          <p:nvPr/>
        </p:nvSpPr>
        <p:spPr>
          <a:xfrm>
            <a:off x="6451600" y="3939282"/>
            <a:ext cx="48007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826"/>
                </a:solidFill>
                <a:latin typeface="DM Sans" pitchFamily="34" charset="0"/>
                <a:ea typeface="DM Sans" pitchFamily="34" charset="-122"/>
                <a:cs typeface="DM Sans" pitchFamily="34" charset="-120"/>
              </a:rPr>
              <a:t>Worse</a:t>
            </a:r>
            <a:r>
              <a:rPr lang="en-US" sz="1600" dirty="0">
                <a:solidFill>
                  <a:srgbClr val="101826"/>
                </a:solidFill>
                <a:latin typeface="DM Sans" pitchFamily="34" charset="0"/>
                <a:ea typeface="DM Sans" pitchFamily="34" charset="-122"/>
                <a:cs typeface="DM Sans" pitchFamily="34" charset="-120"/>
              </a:rPr>
              <a:t> on the dusty scenario (we say so)</a:t>
            </a:r>
            <a:endParaRPr lang="en-US" sz="1600" dirty="0"/>
          </a:p>
        </p:txBody>
      </p:sp>
      <p:sp>
        <p:nvSpPr>
          <p:cNvPr id="11" name="Text 9"/>
          <p:cNvSpPr/>
          <p:nvPr/>
        </p:nvSpPr>
        <p:spPr>
          <a:xfrm>
            <a:off x="6451600" y="4350742"/>
            <a:ext cx="48007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826"/>
                </a:solidFill>
                <a:latin typeface="DM Sans" pitchFamily="34" charset="0"/>
                <a:ea typeface="DM Sans" pitchFamily="34" charset="-122"/>
                <a:cs typeface="DM Sans" pitchFamily="34" charset="-120"/>
              </a:rPr>
              <a:t>1 false alarm</a:t>
            </a:r>
            <a:r>
              <a:rPr lang="en-US" sz="1600" dirty="0">
                <a:solidFill>
                  <a:srgbClr val="101826"/>
                </a:solidFill>
                <a:latin typeface="DM Sans" pitchFamily="34" charset="0"/>
                <a:ea typeface="DM Sans" pitchFamily="34" charset="-122"/>
                <a:cs typeface="DM Sans" pitchFamily="34" charset="-120"/>
              </a:rPr>
              <a:t> on clean data</a:t>
            </a:r>
            <a:endParaRPr lang="en-US" sz="1600" dirty="0"/>
          </a:p>
        </p:txBody>
      </p:sp>
      <p:sp>
        <p:nvSpPr>
          <p:cNvPr id="12" name="Text 10"/>
          <p:cNvSpPr/>
          <p:nvPr/>
        </p:nvSpPr>
        <p:spPr>
          <a:xfrm>
            <a:off x="6451600" y="4762202"/>
            <a:ext cx="4800727"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826"/>
                </a:solidFill>
                <a:latin typeface="DM Sans" pitchFamily="34" charset="0"/>
                <a:ea typeface="DM Sans" pitchFamily="34" charset="-122"/>
                <a:cs typeface="DM Sans" pitchFamily="34" charset="-120"/>
              </a:rPr>
              <a:t>Robust:</a:t>
            </a:r>
            <a:r>
              <a:rPr lang="en-US" sz="1600" dirty="0">
                <a:solidFill>
                  <a:srgbClr val="101826"/>
                </a:solidFill>
                <a:latin typeface="DM Sans" pitchFamily="34" charset="0"/>
                <a:ea typeface="DM Sans" pitchFamily="34" charset="-122"/>
                <a:cs typeface="DM Sans" pitchFamily="34" charset="-120"/>
              </a:rPr>
              <a:t> fault still caught with noise and 5% of rows dropped</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Source: results/metrics.md. Data: 60 days of hourly readings, Jan 1 to Mar 1, 2026, with faults added on purpose.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A52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01826"/>
                </a:solidFill>
                <a:latin typeface="DM Sans" pitchFamily="34" charset="0"/>
                <a:ea typeface="DM Sans" pitchFamily="34" charset="-122"/>
                <a:cs typeface="DM Sans" pitchFamily="34" charset="-120"/>
              </a:rPr>
              <a:t>5 · IMPACT AND NEXT STEPS</a:t>
            </a:r>
            <a:endParaRPr lang="en-US" sz="1400" dirty="0"/>
          </a:p>
        </p:txBody>
      </p:sp>
      <p:sp>
        <p:nvSpPr>
          <p:cNvPr id="3" name="Text 1"/>
          <p:cNvSpPr>
            <a:spLocks noGrp="1"/>
          </p:cNvSpPr>
          <p:nvPr>
            <p:ph type="title"/>
          </p:nvPr>
        </p:nvSpPr>
        <p:spPr>
          <a:xfrm>
            <a:off x="812800" y="1366441"/>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1826"/>
                </a:solidFill>
                <a:latin typeface="DM Sans" pitchFamily="34" charset="0"/>
                <a:ea typeface="DM Sans" pitchFamily="34" charset="-122"/>
                <a:cs typeface="DM Sans" pitchFamily="34" charset="-120"/>
              </a:rPr>
              <a:t>The app tells an owner when dust is worth cleaning, and catches faults that cost far more.</a:t>
            </a:r>
            <a:endParaRPr lang="en-US" sz="3200" dirty="0"/>
          </a:p>
        </p:txBody>
      </p:sp>
      <p:sp>
        <p:nvSpPr>
          <p:cNvPr id="4" name="Shape 2"/>
          <p:cNvSpPr/>
          <p:nvPr/>
        </p:nvSpPr>
        <p:spPr>
          <a:xfrm>
            <a:off x="812800" y="2565202"/>
            <a:ext cx="5181600" cy="2753122"/>
          </a:xfrm>
          <a:prstGeom prst="roundRect">
            <a:avLst>
              <a:gd name="adj" fmla="val 3690"/>
            </a:avLst>
          </a:prstGeom>
          <a:solidFill>
            <a:srgbClr val="101826"/>
          </a:solidFill>
          <a:ln/>
        </p:spPr>
        <p:txBody>
          <a:bodyPr/>
          <a:lstStyle/>
          <a:p>
            <a:endParaRPr lang="en-MY"/>
          </a:p>
        </p:txBody>
      </p:sp>
      <p:sp>
        <p:nvSpPr>
          <p:cNvPr id="5" name="Text 3"/>
          <p:cNvSpPr/>
          <p:nvPr/>
        </p:nvSpPr>
        <p:spPr>
          <a:xfrm>
            <a:off x="1066800" y="2819202"/>
            <a:ext cx="481380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5A524"/>
                </a:solidFill>
                <a:latin typeface="DM Sans" pitchFamily="34" charset="0"/>
                <a:ea typeface="DM Sans" pitchFamily="34" charset="-122"/>
                <a:cs typeface="DM Sans" pitchFamily="34" charset="-120"/>
              </a:rPr>
              <a:t>~60 days</a:t>
            </a:r>
            <a:endParaRPr lang="en-US" sz="4800" dirty="0"/>
          </a:p>
        </p:txBody>
      </p:sp>
      <p:sp>
        <p:nvSpPr>
          <p:cNvPr id="6" name="Text 4"/>
          <p:cNvSpPr/>
          <p:nvPr/>
        </p:nvSpPr>
        <p:spPr>
          <a:xfrm>
            <a:off x="1066800" y="3530402"/>
            <a:ext cx="481380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DM Sans" pitchFamily="34" charset="0"/>
                <a:ea typeface="DM Sans" pitchFamily="34" charset="-122"/>
                <a:cs typeface="DM Sans" pitchFamily="34" charset="-120"/>
              </a:rPr>
              <a:t>of 22% dust loss before one RM 150 cleaning pays for itself</a:t>
            </a:r>
            <a:endParaRPr lang="en-US" sz="1600" dirty="0"/>
          </a:p>
        </p:txBody>
      </p:sp>
      <p:sp>
        <p:nvSpPr>
          <p:cNvPr id="7" name="Text 5"/>
          <p:cNvSpPr/>
          <p:nvPr/>
        </p:nvSpPr>
        <p:spPr>
          <a:xfrm>
            <a:off x="1066800" y="4200922"/>
            <a:ext cx="481380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3EA"/>
                </a:solidFill>
                <a:latin typeface="DM Sans" pitchFamily="34" charset="0"/>
                <a:ea typeface="DM Sans" pitchFamily="34" charset="-122"/>
                <a:cs typeface="DM Sans" pitchFamily="34" charset="-120"/>
              </a:rPr>
              <a:t>A fault costs about </a:t>
            </a:r>
            <a:r>
              <a:rPr lang="en-US" sz="1600" b="1" dirty="0">
                <a:solidFill>
                  <a:srgbClr val="F7F3EA"/>
                </a:solidFill>
                <a:latin typeface="DM Sans" pitchFamily="34" charset="0"/>
                <a:ea typeface="DM Sans" pitchFamily="34" charset="-122"/>
                <a:cs typeface="DM Sans" pitchFamily="34" charset="-120"/>
              </a:rPr>
              <a:t>RM 154</a:t>
            </a:r>
            <a:r>
              <a:rPr lang="en-US" sz="1600" dirty="0">
                <a:solidFill>
                  <a:srgbClr val="F7F3EA"/>
                </a:solidFill>
                <a:latin typeface="DM Sans" pitchFamily="34" charset="0"/>
                <a:ea typeface="DM Sans" pitchFamily="34" charset="-122"/>
                <a:cs typeface="DM Sans" pitchFamily="34" charset="-120"/>
              </a:rPr>
              <a:t> over 14 days</a:t>
            </a:r>
            <a:endParaRPr lang="en-US" sz="1600" dirty="0"/>
          </a:p>
        </p:txBody>
      </p:sp>
      <p:sp>
        <p:nvSpPr>
          <p:cNvPr id="8" name="Text 6"/>
          <p:cNvSpPr/>
          <p:nvPr/>
        </p:nvSpPr>
        <p:spPr>
          <a:xfrm>
            <a:off x="1066800" y="4586982"/>
            <a:ext cx="48138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0CC"/>
                </a:solidFill>
                <a:latin typeface="DM Sans" pitchFamily="34" charset="0"/>
                <a:ea typeface="DM Sans" pitchFamily="34" charset="-122"/>
                <a:cs typeface="DM Sans" pitchFamily="34" charset="-120"/>
              </a:rPr>
              <a:t>Assumed example home: 4.7 kWp, 25.7 kWh/day, RM 0.44/kWh, 14 days earlier detection.</a:t>
            </a:r>
            <a:endParaRPr lang="en-US" sz="1200" dirty="0"/>
          </a:p>
        </p:txBody>
      </p:sp>
      <p:sp>
        <p:nvSpPr>
          <p:cNvPr id="9" name="Shape 7"/>
          <p:cNvSpPr/>
          <p:nvPr/>
        </p:nvSpPr>
        <p:spPr>
          <a:xfrm>
            <a:off x="6197600" y="2565202"/>
            <a:ext cx="5181600" cy="2753122"/>
          </a:xfrm>
          <a:prstGeom prst="roundRect">
            <a:avLst>
              <a:gd name="adj" fmla="val 3690"/>
            </a:avLst>
          </a:prstGeom>
          <a:solidFill>
            <a:srgbClr val="F7F3EA"/>
          </a:solidFill>
          <a:ln/>
        </p:spPr>
        <p:txBody>
          <a:bodyPr/>
          <a:lstStyle/>
          <a:p>
            <a:endParaRPr lang="en-MY"/>
          </a:p>
        </p:txBody>
      </p:sp>
      <p:sp>
        <p:nvSpPr>
          <p:cNvPr id="10" name="Text 8"/>
          <p:cNvSpPr/>
          <p:nvPr/>
        </p:nvSpPr>
        <p:spPr>
          <a:xfrm>
            <a:off x="6451600" y="2819202"/>
            <a:ext cx="48138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1826"/>
                </a:solidFill>
                <a:latin typeface="DM Sans" pitchFamily="34" charset="0"/>
                <a:ea typeface="DM Sans" pitchFamily="34" charset="-122"/>
                <a:cs typeface="DM Sans" pitchFamily="34" charset="-120"/>
              </a:rPr>
              <a:t>Next steps</a:t>
            </a:r>
            <a:endParaRPr lang="en-US" sz="1800" dirty="0"/>
          </a:p>
        </p:txBody>
      </p:sp>
      <p:sp>
        <p:nvSpPr>
          <p:cNvPr id="11" name="Text 9"/>
          <p:cNvSpPr/>
          <p:nvPr/>
        </p:nvSpPr>
        <p:spPr>
          <a:xfrm>
            <a:off x="6451600" y="3195042"/>
            <a:ext cx="481380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01826"/>
                </a:solidFill>
                <a:latin typeface="DM Sans" pitchFamily="34" charset="0"/>
                <a:ea typeface="DM Sans" pitchFamily="34" charset="-122"/>
                <a:cs typeface="DM Sans" pitchFamily="34" charset="-120"/>
              </a:rPr>
              <a:t>1. Test on real homes with real inverter data</a:t>
            </a:r>
            <a:endParaRPr lang="en-US" sz="1600" dirty="0"/>
          </a:p>
        </p:txBody>
      </p:sp>
      <p:sp>
        <p:nvSpPr>
          <p:cNvPr id="12" name="Text 10"/>
          <p:cNvSpPr/>
          <p:nvPr/>
        </p:nvSpPr>
        <p:spPr>
          <a:xfrm>
            <a:off x="6451600" y="3581102"/>
            <a:ext cx="481380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01826"/>
                </a:solidFill>
                <a:latin typeface="DM Sans" pitchFamily="34" charset="0"/>
                <a:ea typeface="DM Sans" pitchFamily="34" charset="-122"/>
                <a:cs typeface="DM Sans" pitchFamily="34" charset="-120"/>
              </a:rPr>
              <a:t>2. Improve the forecast on dusty days</a:t>
            </a:r>
            <a:endParaRPr lang="en-US" sz="1600" dirty="0"/>
          </a:p>
        </p:txBody>
      </p:sp>
      <p:sp>
        <p:nvSpPr>
          <p:cNvPr id="13" name="Text 11"/>
          <p:cNvSpPr/>
          <p:nvPr/>
        </p:nvSpPr>
        <p:spPr>
          <a:xfrm>
            <a:off x="6451600" y="3967163"/>
            <a:ext cx="481380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01826"/>
                </a:solidFill>
                <a:latin typeface="DM Sans" pitchFamily="34" charset="0"/>
                <a:ea typeface="DM Sans" pitchFamily="34" charset="-122"/>
                <a:cs typeface="DM Sans" pitchFamily="34" charset="-120"/>
              </a:rPr>
              <a:t>3. Add more problem types and send the message to the owner's phone</a:t>
            </a:r>
            <a:endParaRPr lang="en-US" sz="1600" dirty="0"/>
          </a:p>
        </p:txBody>
      </p:sp>
      <p:sp>
        <p:nvSpPr>
          <p:cNvPr id="14" name="Text 12"/>
          <p:cNvSpPr/>
          <p:nvPr/>
        </p:nvSpPr>
        <p:spPr>
          <a:xfrm>
            <a:off x="6451600" y="4637683"/>
            <a:ext cx="48138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Not built on purpose: login, generic dashboard, live inverter connection, mobile app, notifications.</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1826"/>
                </a:solidFill>
                <a:latin typeface="DM Sans" pitchFamily="34" charset="0"/>
                <a:ea typeface="DM Sans" pitchFamily="34" charset="-122"/>
                <a:cs typeface="DM Sans" pitchFamily="34" charset="-120"/>
              </a:rPr>
              <a:t>Jun Xi · Hong Jun · Cheng Hao | dormathon-modelprototype.streamlit.app</a:t>
            </a:r>
            <a:endParaRPr lang="en-US" sz="1200" dirty="0"/>
          </a:p>
        </p:txBody>
      </p:sp>
    </p:spTree>
  </p:cSld>
  <p:clrMapOvr>
    <a:masterClrMapping/>
  </p:clrMapOvr>
</p:sld>
</file>

<file path=ppt/theme/theme1.xml><?xml version="1.0" encoding="utf-8"?>
<a:theme xmlns:a="http://schemas.openxmlformats.org/drawingml/2006/main" name="Tomorrow's Solar Plan">
  <a:themeElements>
    <a:clrScheme name="Tomorrow's Solar Plan">
      <a:dk1>
        <a:srgbClr val="101826"/>
      </a:dk1>
      <a:lt1>
        <a:srgbClr val="F7F3EA"/>
      </a:lt1>
      <a:dk2>
        <a:srgbClr val="4A4F57"/>
      </a:dk2>
      <a:lt2>
        <a:srgbClr val="E0DDD6"/>
      </a:lt2>
      <a:accent1>
        <a:srgbClr val="F5A524"/>
      </a:accent1>
      <a:accent2>
        <a:srgbClr val="B86E00"/>
      </a:accent2>
      <a:accent3>
        <a:srgbClr val="B8C0CC"/>
      </a:accent3>
      <a:accent4>
        <a:srgbClr val="4A5568"/>
      </a:accent4>
      <a:accent5>
        <a:srgbClr val="9AA0A6"/>
      </a:accent5>
      <a:accent6>
        <a:srgbClr val="6C7074"/>
      </a:accent6>
      <a:hlink>
        <a:srgbClr val="0563C1"/>
      </a:hlink>
      <a:folHlink>
        <a:srgbClr val="954F72"/>
      </a:folHlink>
    </a:clrScheme>
    <a:fontScheme name="Tomorrow's Solar Pla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1102</Words>
  <Application>Microsoft Office PowerPoint</Application>
  <PresentationFormat>Widescreen</PresentationFormat>
  <Paragraphs>67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DM Sans</vt:lpstr>
      <vt:lpstr>Tomorrow's Solar Plan</vt:lpstr>
      <vt:lpstr>A solar system can lose a fifth of its output for days, and nothing tells the owner.</vt:lpstr>
      <vt:lpstr>Owners see output after it drops, not what to do next.</vt:lpstr>
      <vt:lpstr>One screen, three buttons, a plain-language answer.</vt:lpstr>
      <vt:lpstr>On test data with faults we added on purpose, the tool found both and named them correctly.</vt:lpstr>
      <vt:lpstr>The app tells an owner when dust is worth cleaning, and catches faults that cost far more.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Tomorrow's Solar Plan</dc:title>
  <dc:subject/>
  <dc:creator/>
  <cp:lastModifiedBy>Jun .</cp:lastModifiedBy>
  <cp:revision>3</cp:revision>
  <dcterms:created xsi:type="dcterms:W3CDTF">2026-10-10T14:01:37Z</dcterms:created>
  <dcterms:modified xsi:type="dcterms:W3CDTF">2026-10-11T01:13:25Z</dcterms:modified>
</cp:coreProperties>
</file>